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ff7b22a07b471f" /><Relationship Type="http://schemas.openxmlformats.org/officeDocument/2006/relationships/extended-properties" Target="/docProps/app.xml" Id="R6d9d56eff33345ec" /><Relationship Type="http://schemas.openxmlformats.org/officeDocument/2006/relationships/officeDocument" Target="/ppt/presentation.xml" Id="Rb057153cb2634e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8d417646af48b2"/>
  </p:sldMasterIdLst>
  <p:notesMasterIdLst>
    <p:notesMasterId xmlns:r="http://schemas.openxmlformats.org/officeDocument/2006/relationships" r:id="R3ab2f1e488444d4a"/>
  </p:notesMasterIdLst>
  <p:sldIdLst>
    <p:sldId xmlns:r="http://schemas.openxmlformats.org/officeDocument/2006/relationships" id="256" r:id="R357c0c5937a14c57"/>
    <p:sldId xmlns:r="http://schemas.openxmlformats.org/officeDocument/2006/relationships" id="257" r:id="Rc9ebc42b84f24eef"/>
    <p:sldId xmlns:r="http://schemas.openxmlformats.org/officeDocument/2006/relationships" id="258" r:id="Rebdd565aaea642be"/>
    <p:sldId xmlns:r="http://schemas.openxmlformats.org/officeDocument/2006/relationships" id="259" r:id="R9be6ccdacd854123"/>
    <p:sldId xmlns:r="http://schemas.openxmlformats.org/officeDocument/2006/relationships" id="260" r:id="Rc743bb9b898e4a8c"/>
    <p:sldId xmlns:r="http://schemas.openxmlformats.org/officeDocument/2006/relationships" id="261" r:id="R517b47150ccf49ef"/>
    <p:sldId xmlns:r="http://schemas.openxmlformats.org/officeDocument/2006/relationships" id="262" r:id="R70c31e97bd1c409a"/>
    <p:sldId xmlns:r="http://schemas.openxmlformats.org/officeDocument/2006/relationships" id="263" r:id="Rab2a5515e5d747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8bfe88c661431f" /><Relationship Type="http://schemas.openxmlformats.org/officeDocument/2006/relationships/slideMaster" Target="/ppt/slideMasters/slideMaster1.xml" Id="Rab8d417646af48b2" /><Relationship Type="http://schemas.openxmlformats.org/officeDocument/2006/relationships/notesMaster" Target="/ppt/notesMasters/notesMaster1.xml" Id="R3ab2f1e488444d4a" /><Relationship Type="http://schemas.openxmlformats.org/officeDocument/2006/relationships/presProps" Target="/ppt/presProps.xml" Id="Rf8b5108cb7d54bdb" /><Relationship Type="http://schemas.openxmlformats.org/officeDocument/2006/relationships/tableStyles" Target="/ppt/tableStyles.xml" Id="R31997b95289e4087" /><Relationship Type="http://schemas.openxmlformats.org/officeDocument/2006/relationships/slide" Target="/ppt/slides/slide1.xml" Id="R357c0c5937a14c57" /><Relationship Type="http://schemas.openxmlformats.org/officeDocument/2006/relationships/slide" Target="/ppt/slides/slide2.xml" Id="Rc9ebc42b84f24eef" /><Relationship Type="http://schemas.openxmlformats.org/officeDocument/2006/relationships/slide" Target="/ppt/slides/slide3.xml" Id="Rebdd565aaea642be" /><Relationship Type="http://schemas.openxmlformats.org/officeDocument/2006/relationships/slide" Target="/ppt/slides/slide4.xml" Id="R9be6ccdacd854123" /><Relationship Type="http://schemas.openxmlformats.org/officeDocument/2006/relationships/slide" Target="/ppt/slides/slide5.xml" Id="Rc743bb9b898e4a8c" /><Relationship Type="http://schemas.openxmlformats.org/officeDocument/2006/relationships/slide" Target="/ppt/slides/slide6.xml" Id="R517b47150ccf49ef" /><Relationship Type="http://schemas.openxmlformats.org/officeDocument/2006/relationships/slide" Target="/ppt/slides/slide7.xml" Id="R70c31e97bd1c409a" /><Relationship Type="http://schemas.openxmlformats.org/officeDocument/2006/relationships/slide" Target="/ppt/slides/slide8.xml" Id="Rab2a5515e5d747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1f3c51d95843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edb65468c5448f" /><Relationship Type="http://schemas.openxmlformats.org/officeDocument/2006/relationships/notesMaster" Target="/ppt/notesMasters/notesMaster1.xml" Id="R0b8e84be015e4c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8fd0a00c384bc2" /><Relationship Type="http://schemas.openxmlformats.org/officeDocument/2006/relationships/notesMaster" Target="/ppt/notesMasters/notesMaster1.xml" Id="R84a2b12630a841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e5f4d553c145bf" /><Relationship Type="http://schemas.openxmlformats.org/officeDocument/2006/relationships/notesMaster" Target="/ppt/notesMasters/notesMaster1.xml" Id="Re594dae4ded544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901f1f7980417d" /><Relationship Type="http://schemas.openxmlformats.org/officeDocument/2006/relationships/notesMaster" Target="/ppt/notesMasters/notesMaster1.xml" Id="R277b9cdc21f74a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5d8874d57344ce" /><Relationship Type="http://schemas.openxmlformats.org/officeDocument/2006/relationships/notesMaster" Target="/ppt/notesMasters/notesMaster1.xml" Id="R0aa3139605ac44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bed3c5d08f49b4" /><Relationship Type="http://schemas.openxmlformats.org/officeDocument/2006/relationships/notesMaster" Target="/ppt/notesMasters/notesMaster1.xml" Id="R6890164282ae4e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7796261c65458c" /><Relationship Type="http://schemas.openxmlformats.org/officeDocument/2006/relationships/notesMaster" Target="/ppt/notesMasters/notesMaster1.xml" Id="Rfca0f0000f6844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cb941841654f26" /><Relationship Type="http://schemas.openxmlformats.org/officeDocument/2006/relationships/notesMaster" Target="/ppt/notesMasters/notesMaster1.xml" Id="Red2b7c850dae41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1d0eb510940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be9061f3d49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fb66b671947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29715a7544e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46b81c58940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c67d00a3094a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080E0A-1697-42D1-B5AE-3F304862C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312C7C-A7E5-41A2-B559-8E7EBC4EBA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A848C1-CDFB-4A74-9A7C-390456420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0B32D8-1FE3-4308-A462-4DD932A19A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0209C5-A44F-4EE6-9485-6C19BBC770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D8B788-3CFA-4F95-99F1-F363CEDF2C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6B8E24-427E-4CCE-8F31-04A935813B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AB9E24-350C-4D82-B80C-36A1C71C92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E8D7F3-5280-413F-9293-FBE651C50B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9B99E7-D2CC-4782-91ED-C8746EF81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583ae1092849da" /><Relationship Type="http://schemas.openxmlformats.org/officeDocument/2006/relationships/slideLayout" Target="/ppt/slideLayouts/slideLayout1.xml" Id="R2e5495dd581d455e" /><Relationship Type="http://schemas.openxmlformats.org/officeDocument/2006/relationships/slideLayout" Target="/ppt/slideLayouts/slideLayout2.xml" Id="R32b4a21faefa4da5" /><Relationship Type="http://schemas.openxmlformats.org/officeDocument/2006/relationships/slideLayout" Target="/ppt/slideLayouts/slideLayout3.xml" Id="R595f96c87e8e48dd" /><Relationship Type="http://schemas.openxmlformats.org/officeDocument/2006/relationships/slideLayout" Target="/ppt/slideLayouts/slideLayout4.xml" Id="R356870430fb34317" /><Relationship Type="http://schemas.openxmlformats.org/officeDocument/2006/relationships/slideLayout" Target="/ppt/slideLayouts/slideLayout5.xml" Id="R5015b31e132142f4" /><Relationship Type="http://schemas.openxmlformats.org/officeDocument/2006/relationships/slideLayout" Target="/ppt/slideLayouts/slideLayout6.xml" Id="R77f898f59cf549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5495dd581d455e"/>
    <p:sldLayoutId xmlns:r="http://schemas.openxmlformats.org/officeDocument/2006/relationships" id="2147483650" r:id="R32b4a21faefa4da5"/>
    <p:sldLayoutId xmlns:r="http://schemas.openxmlformats.org/officeDocument/2006/relationships" id="2147483651" r:id="R595f96c87e8e48dd"/>
    <p:sldLayoutId xmlns:r="http://schemas.openxmlformats.org/officeDocument/2006/relationships" id="2147483652" r:id="R356870430fb34317"/>
    <p:sldLayoutId xmlns:r="http://schemas.openxmlformats.org/officeDocument/2006/relationships" id="2147483653" r:id="R5015b31e132142f4"/>
    <p:sldLayoutId xmlns:r="http://schemas.openxmlformats.org/officeDocument/2006/relationships" id="2147483654" r:id="R77f898f59cf549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69c0c3ffa148e7" /><Relationship Type="http://schemas.openxmlformats.org/officeDocument/2006/relationships/notesSlide" Target="/ppt/notesSlides/notesSlide1.xml" Id="R54e6a3015fa143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100d69db894b49" /><Relationship Type="http://schemas.openxmlformats.org/officeDocument/2006/relationships/notesSlide" Target="/ppt/notesSlides/notesSlide2.xml" Id="Rf9387d00d32345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91a20c4684488" /><Relationship Type="http://schemas.openxmlformats.org/officeDocument/2006/relationships/notesSlide" Target="/ppt/notesSlides/notesSlide3.xml" Id="R941ee5d04d3347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a7ff644b3c4fbd" /><Relationship Type="http://schemas.openxmlformats.org/officeDocument/2006/relationships/notesSlide" Target="/ppt/notesSlides/notesSlide4.xml" Id="Rce5b9ea68e924f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a0d87ff04d4c88" /><Relationship Type="http://schemas.openxmlformats.org/officeDocument/2006/relationships/notesSlide" Target="/ppt/notesSlides/notesSlide5.xml" Id="Rfbff145d55e846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5ec2ff4dc44035" /><Relationship Type="http://schemas.openxmlformats.org/officeDocument/2006/relationships/notesSlide" Target="/ppt/notesSlides/notesSlide6.xml" Id="Rb22e65901dd448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183e1c43248d2" /><Relationship Type="http://schemas.openxmlformats.org/officeDocument/2006/relationships/chart" Target="/ppt/slides/charts/chart1.xml" Id="Rb84911213ec1482d" /><Relationship Type="http://schemas.openxmlformats.org/officeDocument/2006/relationships/chart" Target="/ppt/slides/charts/chart2.xml" Id="Rf3cf48bc2162427d" /><Relationship Type="http://schemas.openxmlformats.org/officeDocument/2006/relationships/notesSlide" Target="/ppt/notesSlides/notesSlide7.xml" Id="R1706e5c7988b4b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0b918e2d4d4227" /><Relationship Type="http://schemas.openxmlformats.org/officeDocument/2006/relationships/notesSlide" Target="/ppt/notesSlides/notesSlide8.xml" Id="Re5ea86755ed4448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GCD scan microseconds</c:v>
          </c:tx>
          <c:spPr>
            <a:solidFill xmlns:a="http://schemas.openxmlformats.org/drawingml/2006/main">
              <a:srgbClr val="167D86"/>
            </a:solidFill>
          </c:spPr>
          <c:marker>
            <c:symbol val="none"/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</c:numCache>
            </c:num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</c:v>
                </c:pt>
                <c:pt idx="1">
                  <c:v>23</c:v>
                </c:pt>
                <c:pt idx="2">
                  <c:v>99</c:v>
                </c:pt>
                <c:pt idx="3">
                  <c:v>362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Public keys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6D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microseconds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Recovery microseconds</c:v>
          </c:tx>
          <c:spPr>
            <a:solidFill xmlns:a="http://schemas.openxmlformats.org/drawingml/2006/main">
              <a:srgbClr val="167D86"/>
            </a:solidFill>
          </c:spPr>
          <c:invertIfNegative val="0"/>
          <c:cat>
            <c:numRef>
              <c:f>'Chart Data'!$A$2:$A$4</c:f>
              <c:numCache>
                <c:formatCode>General</c:formatCode>
                <c:ptCount val="3"/>
                <c:pt idx="0">
                  <c:v>255</c:v>
                </c:pt>
                <c:pt idx="1">
                  <c:v>512</c:v>
                </c:pt>
                <c:pt idx="2">
                  <c:v>768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14</c:v>
                </c:pt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Modulus bits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6D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microseconds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6D0BB-5AFB-4779-AFB6-29E88E3A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61771-C9F1-4778-8D66-63923553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/ WEAK RSA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E62BB-7669-4E3F-9EC5-6DB4B50D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36A7D-A838-46B5-9418-80697767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49D1D-BB88-4107-8B16-2F93DA00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635AD-5303-4DBC-BC89-D0ABA336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SC6104 CRYPTOGRAPHY COURSE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4920B-74EF-4B9C-8DF2-6500B4D0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704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Breaking</a:t>
            </a:r>
          </a:p>
          <a:p xmlns:a="http://schemas.openxmlformats.org/drawingml/2006/main">
            <a: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Weak RSA Keys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D0582-A21E-47D2-83F2-D1DEC659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Two controlled attacks show why large moduli cannot compensate for faulty key generation.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BD8A8-30A1-4F4F-BE1D-1A3324E4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Shared prime reuse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A4124-FBD2-407F-B573-8DF0687B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479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gcd(N₁, N₂) = 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C5871-626C-4A02-ADC1-9985BA99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2E752-2914-49E4-9E34-2FF2B6A3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385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Small private exponent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991F0-C270-4ED0-A47C-D70AE4BB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338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d &lt; N^(1/4) /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55A69-45AD-4E5D-B29B-4DEE3522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8-minute presentation with live local demo</a:t>
            </a:r>
          </a:p>
        </p:txBody>
      </p:sp>
    </p:spTree>
    <p:extLst>
      <p:ext uri="{BB962C8B-B14F-4D97-AF65-F5344CB8AC3E}">
        <p14:creationId xmlns:p14="http://schemas.microsoft.com/office/powerpoint/2010/main" val="1308238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8F7686-014A-496A-8357-941DDBF6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9D6A1-F02D-4DBC-BFF9-CE0C4B6C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THREAT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82C12-785C-42F4-B90F-2EF7FB14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7BD50-BFF3-4335-9CE8-C4C72A2B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560C7-A0D2-47DA-896D-FCDB007E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74FE0-2FEC-411F-897A-C780A98E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Threat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6AA2E-CD8E-446E-82D4-E14C46DE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The attacker receives public keys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BA2C6-86C2-48CF-A024-DCAB85EB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0270E-436C-4DF3-9DE1-2162084D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Known to attacker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36A90-724A-4EDA-A27F-A4D54322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RSA moduli N and public exponent e from a controlled local key set.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FCF7B-B1E4-45BE-A4FA-F34B1181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C1990-2B96-4BA3-B2BC-B6205168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Not attempted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D3114-471C-499D-AB38-5FFDEEAF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No generic factorization of a correctly generated 2048-bit RSA modulus.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36BFE-BF0F-41DD-BA70-CA2A9871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3FE22-08FE-4F33-9074-C76B73F0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24FDE-DCF1-4E55-9D47-44DEFE53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Recover the private key only when an implementation makes a specific error.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9BC72-8369-4955-A024-2E0F00C3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CBAC8-2FF0-4630-843B-1A63E86A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PUBLIC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FD9FE-3A4B-4586-8376-3CBDF01E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7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(N, e)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B7BE8-EE11-42B0-AA2E-5000382D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7D86"/>
                </a:solidFill>
                <a:latin typeface="Arial"/>
                <a:ea typeface="Arial"/>
                <a:cs typeface="Arial"/>
              </a:rPr>
              <a:t>weak parameter</a:t>
            </a:r>
          </a:p>
          <a:p xmlns:a="http://schemas.openxmlformats.org/drawingml/2006/main">
            <a: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7D86"/>
                </a:solidFill>
                <a:latin typeface="Arial"/>
                <a:ea typeface="Arial"/>
                <a:cs typeface="Arial"/>
              </a:rPr>
              <a:t>or repeated prime</a:t>
            </a:r>
          </a:p>
        </p:txBody>
      </p:sp>
    </p:spTree>
    <p:extLst>
      <p:ext uri="{BB962C8B-B14F-4D97-AF65-F5344CB8AC3E}">
        <p14:creationId xmlns:p14="http://schemas.microsoft.com/office/powerpoint/2010/main" val="464600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9EC94-08AB-4E07-8EB2-277BEFE2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0AAD6-5805-42BD-81C6-6F607228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ATTACK 1 / SHARED PRIME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4AC4E-B036-4590-9A27-D751094E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11F22-A8B2-4F7E-AACF-15F43E2A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E91E9-01E4-49FD-A993-54C235B0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7BAA6-968C-49FE-8280-DB24DB4D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Shared-prime attack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CD1FD-620C-41C3-ABB9-ADA5BB7A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Faulty randomness can reuse one secret prime across two public moduli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44C1C-4F74-4B80-9F87-8EFB1377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F1C45-AEA6-4479-A0A7-88CBD511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9BC7B-1084-44F6-84EC-25F6300C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N₁ = p × q₁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B5006-6D40-4059-A5BB-D5E51A10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N₂ = p × q₂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5A7A8-5E68-4AAB-8670-B5AC1F3C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33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same 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8E93A-76CE-41D0-B2A4-8E9E39D7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33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same 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45ABD-82B4-44F9-B3C1-E5AE1EFD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24375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gcd(N₁, N₂) = 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57FD4-DD45-4C67-BB9F-1A1F9B97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863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Knowing p gives q, φ(N), and then d</a:t>
            </a:r>
          </a:p>
        </p:txBody>
      </p:sp>
    </p:spTree>
    <p:extLst>
      <p:ext uri="{BB962C8B-B14F-4D97-AF65-F5344CB8AC3E}">
        <p14:creationId xmlns:p14="http://schemas.microsoft.com/office/powerpoint/2010/main" val="1729711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79C2E-F692-47EA-B413-6F31431D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0C7C4-1FFE-4F60-9BBC-AEC4C985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DEMO / SHARED PRIME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15F85-7A99-414C-9144-3A6535ED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E93BD-887A-4163-A06C-8E1BB340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C0D51-7249-4263-81AC-DF89A546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969C1-E762-44BE-B542-30BACADF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Live demonstration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B863E-870D-49AA-9D9D-BBD0B92A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The attack program sees only public parameters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1075E-9717-4958-86F4-A84ECF66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88819-59B0-4D7B-A51A-42FC9E07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764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1. Generate four 2048-bit public keys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26A01-4FC2-4481-B922-5A53EE2F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29F51-8344-4992-BA2A-4E328E67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2. Reuse one prime in exactly two keys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8DE9B-0D98-42E3-9B97-85265908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31F6F-CEE5-4A3B-9FA3-BC92929B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6712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3. Compute gcd for each public-key pair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D5556-0A2F-405C-A039-24C3DA9F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D9E5C-4DDB-4BF1-9BB1-F3397247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4. Reconstruct d and decrypt the message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A5689-62E6-4BD6-B046-CAC4C0A3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62175"/>
            <a:ext cx="2876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043E0-B80B-4245-AE21-0F85C3A2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288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TERMINAL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F8EF6-7BD1-4E52-8A35-004E8B8E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09875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gcd scan found</a:t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1 vulnerable pair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Recovered plaintext:</a:t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RSA keys need</a:t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independent primes</a:t>
            </a:r>
          </a:p>
        </p:txBody>
      </p:sp>
    </p:spTree>
    <p:extLst>
      <p:ext uri="{BB962C8B-B14F-4D97-AF65-F5344CB8AC3E}">
        <p14:creationId xmlns:p14="http://schemas.microsoft.com/office/powerpoint/2010/main" val="238411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3DF67-B3AA-4F21-A1BE-5346935A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864A9-A442-41B5-BB5F-221B6116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ATTACK 2 / WIENER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2822A-54BE-4409-90B9-CF96F23F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1B971-A3FB-43E5-A3DC-ADBB9A6D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4666E-DD77-49DB-9BC5-2CA752BD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7C664-14F5-4679-BBCA-FAA5A838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Wiener's small-d attack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445AB-5941-42F8-AF7F-A499604A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A private exponent chosen too small creates a continued-fraction shortcut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B95ED-473A-4C87-B63F-6A59FE44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e × d − k × φ(N) =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971A7-D7DB-4E8E-818B-1DF27885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When d is small, k / d approximates e / 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63164-A539-488E-A1E3-3AA8B3E8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continued fractions produce candidate values for 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8C215-D272-4ECB-9A07-45FCE75C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24100"/>
            <a:ext cx="34290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C30F4-4E88-49A8-97D9-F7146040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193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CLASSICAL SUFFICIENT</a:t>
            </a:r>
          </a:p>
          <a:p xmlns:a="http://schemas.openxmlformats.org/drawingml/2006/main">
            <a: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VULNERABILITY RANGE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D0F0B-B2EF-4DAA-8F84-69DF85DD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909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d &lt; N^(1/4) /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E61A5-A52B-4AA6-B094-4F4B5829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19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We verify candidates by reconstructing p and q</a:t>
            </a:r>
          </a:p>
        </p:txBody>
      </p:sp>
    </p:spTree>
    <p:extLst>
      <p:ext uri="{BB962C8B-B14F-4D97-AF65-F5344CB8AC3E}">
        <p14:creationId xmlns:p14="http://schemas.microsoft.com/office/powerpoint/2010/main" val="15186344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2C632-6C8B-4288-B55F-28C93EC6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8DD30-3F41-4734-87EE-31E9CD34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DEMO / WIENER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70808-2F71-46E7-9B23-F629FA14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77FC3-D9F5-4C21-AC01-35AF6125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5B784-D8F7-442F-AF6C-1FCD38C9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668B1-A8FB-4A7E-8982-6B093D05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Second live attack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DD32C-AB79-45D8-A2A9-D87FB2BE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A 2048-bit modulus still fails when d is intentionally tiny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E44C9-923D-49A3-80FC-AEDA8986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81E10-64D9-45C5-8821-871AA3C6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431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857B9-2AE0-4B5B-AC35-5D2464FA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BF6D3-C93A-47DF-83FE-66E5C13C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PUBLIC 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9A8E0-FA22-4215-A2B2-C640778E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76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N, 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D05DF-F3F2-4C33-BE57-03E89447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CONVERGENTS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0A728-5CF2-4387-BFAA-6C496C7B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76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k / 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B1EE8-6FE3-4BE6-AFA0-70287A67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RECOVERED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EF27A-7610-4792-A125-E6EB206D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76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d, p, 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A02F9-A669-4122-AE1F-490BA6D0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006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The demo verifies the recovered d by decrypting a second message</a:t>
            </a:r>
          </a:p>
        </p:txBody>
      </p:sp>
    </p:spTree>
    <p:extLst>
      <p:ext uri="{BB962C8B-B14F-4D97-AF65-F5344CB8AC3E}">
        <p14:creationId xmlns:p14="http://schemas.microsoft.com/office/powerpoint/2010/main" val="794902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8190F-0283-4821-A455-7557E1E4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54A18-2157-472F-9E6D-FE909DBA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F1FF7-2DD7-4BB7-AD3A-F0BE74AA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2A01D-367B-45BF-808D-85E7C92B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1CCB6-785A-4F8A-9A78-FE6DA729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57FDA-DCC3-4FF6-AAC1-A1310EC7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Measured controlled experiments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0E924-C375-4B73-A017-3ACB1BE7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Timings regenerate each run on locally generated vulnerable keys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9E227-D5EC-4E03-A1BE-17ECA165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Shared-prime scan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30B92-A4C3-4F9A-B986-9F7FD187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Wiener recovery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5E5644AD-1B52-400E-A606-9270F81DCC61}"/>
              </a:ext>
            </a:extLst>
          </p:cNvPr>
          <p:cNvGraphicFramePr/>
          <p:nvPr/>
        </p:nvGraphicFramePr>
        <p:xfrm>
          <a:off xmlns:a="http://schemas.openxmlformats.org/drawingml/2006/main" x="714375" y="2381250"/>
          <a:ext xmlns:a="http://schemas.openxmlformats.org/drawingml/2006/main" cx="4905375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4911213ec1482d"/>
          </a:graphicData>
        </a:graphic>
      </p:graphicFrame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BBCCA71B-FC6E-4989-90F0-6AB695311EBF}"/>
              </a:ext>
            </a:extLst>
          </p:cNvPr>
          <p:cNvGraphicFramePr/>
          <p:nvPr/>
        </p:nvGraphicFramePr>
        <p:xfrm>
          <a:off xmlns:a="http://schemas.openxmlformats.org/drawingml/2006/main" x="6429375" y="2381250"/>
          <a:ext xmlns:a="http://schemas.openxmlformats.org/drawingml/2006/main" cx="4905375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cf48bc2162427d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74E73-5AB0-4EDB-9C55-37FC4E46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18A8D"/>
                </a:solidFill>
                <a:latin typeface="Arial"/>
                <a:ea typeface="Arial"/>
                <a:cs typeface="Arial"/>
              </a:rPr>
              <a:t>Results are workload-dependent. The security conclusion comes from the successful key recovery, not a universal runtime claim.</a:t>
            </a:r>
          </a:p>
        </p:txBody>
      </p:sp>
    </p:spTree>
    <p:extLst>
      <p:ext uri="{BB962C8B-B14F-4D97-AF65-F5344CB8AC3E}">
        <p14:creationId xmlns:p14="http://schemas.microsoft.com/office/powerpoint/2010/main" val="605268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D1812-8412-4F40-8AFB-3E494CDC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4A0D9-C7CD-4E1E-B5CA-FD1C89BE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40322-2614-4DAE-BFCF-AF56DA52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24765-64D3-47F5-B66E-85CFCFFF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BB606-A99A-495F-9D66-BB9478B6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524D3-DC80-4116-8F53-1A78C473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981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Large RSA keys still need correct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75189-F5E9-4701-9E0B-F1A15C2D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6CEAF-9945-4C1D-A12D-FBAB7FB6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Use reviewed libraries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29494-CFAD-4397-8723-80C76CA0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Avoid custom key-generation code in production systems.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EB9C3-A0B5-49BB-ACC9-359B93DD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873DF-04E8-46E8-8007-8973D10E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Use a CSPRNG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E997F-46CB-43E2-AA04-7B6173E4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Independent entropy prevents repeated primes across keys.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64D26-ABBF-40AA-B869-19DE2D88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CB774-FD98-4FA4-9654-C844AA88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Avoid manual d selection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DAFD3-64AC-47D2-8919-D97B4D65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RSA parameters require validated mathematical constraints.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35326-E24D-4FDF-9F49-DDB8F19C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7D86"/>
                </a:solidFill>
                <a:latin typeface="Arial"/>
                <a:ea typeface="Arial"/>
                <a:cs typeface="Arial"/>
              </a:rPr>
              <a:t>Key length protects against generic factoring. It cannot repair flawed randomness or unsafe parameters.</a:t>
            </a:r>
          </a:p>
        </p:txBody>
      </p:sp>
    </p:spTree>
    <p:extLst>
      <p:ext uri="{BB962C8B-B14F-4D97-AF65-F5344CB8AC3E}">
        <p14:creationId xmlns:p14="http://schemas.microsoft.com/office/powerpoint/2010/main" val="1725630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2026-10-17T07:12:58.9520000Z</dcterms:created>
  <dcterms:modified xsi:type="dcterms:W3CDTF">2026-10-17T07:12:58.9520000Z</dcterms:modified>
</coreProperties>
</file>