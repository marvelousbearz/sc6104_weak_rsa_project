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cb99de4fb341da" /><Relationship Type="http://schemas.openxmlformats.org/officeDocument/2006/relationships/extended-properties" Target="/docProps/app.xml" Id="Rd5dee3d5da384061" /><Relationship Type="http://schemas.openxmlformats.org/officeDocument/2006/relationships/officeDocument" Target="/ppt/presentation.xml" Id="Rdf6dd021f4de47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e44557683a4ae8"/>
  </p:sldMasterIdLst>
  <p:notesMasterIdLst>
    <p:notesMasterId xmlns:r="http://schemas.openxmlformats.org/officeDocument/2006/relationships" r:id="Rc42b3be507ec41bb"/>
  </p:notesMasterIdLst>
  <p:sldIdLst>
    <p:sldId xmlns:r="http://schemas.openxmlformats.org/officeDocument/2006/relationships" id="256" r:id="R927d05564bd849b5"/>
    <p:sldId xmlns:r="http://schemas.openxmlformats.org/officeDocument/2006/relationships" id="257" r:id="Rd574af24790d45cd"/>
    <p:sldId xmlns:r="http://schemas.openxmlformats.org/officeDocument/2006/relationships" id="258" r:id="Rb01c1180bac44dc8"/>
    <p:sldId xmlns:r="http://schemas.openxmlformats.org/officeDocument/2006/relationships" id="259" r:id="Re9d18fbb1ddf4104"/>
    <p:sldId xmlns:r="http://schemas.openxmlformats.org/officeDocument/2006/relationships" id="260" r:id="R1d049270f22a422a"/>
    <p:sldId xmlns:r="http://schemas.openxmlformats.org/officeDocument/2006/relationships" id="261" r:id="R65e4bcaac9b14b09"/>
    <p:sldId xmlns:r="http://schemas.openxmlformats.org/officeDocument/2006/relationships" id="262" r:id="R94aa51b8a4914a5d"/>
    <p:sldId xmlns:r="http://schemas.openxmlformats.org/officeDocument/2006/relationships" id="263" r:id="R5778c5f8f9f64c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dbbb3391e44c22" /><Relationship Type="http://schemas.openxmlformats.org/officeDocument/2006/relationships/slideMaster" Target="/ppt/slideMasters/slideMaster1.xml" Id="R85e44557683a4ae8" /><Relationship Type="http://schemas.openxmlformats.org/officeDocument/2006/relationships/notesMaster" Target="/ppt/notesMasters/notesMaster1.xml" Id="Rc42b3be507ec41bb" /><Relationship Type="http://schemas.openxmlformats.org/officeDocument/2006/relationships/presProps" Target="/ppt/presProps.xml" Id="Rf3cd9a1339f34042" /><Relationship Type="http://schemas.openxmlformats.org/officeDocument/2006/relationships/tableStyles" Target="/ppt/tableStyles.xml" Id="R627c40ea18b745d6" /><Relationship Type="http://schemas.openxmlformats.org/officeDocument/2006/relationships/slide" Target="/ppt/slides/slide1.xml" Id="R927d05564bd849b5" /><Relationship Type="http://schemas.openxmlformats.org/officeDocument/2006/relationships/slide" Target="/ppt/slides/slide2.xml" Id="Rd574af24790d45cd" /><Relationship Type="http://schemas.openxmlformats.org/officeDocument/2006/relationships/slide" Target="/ppt/slides/slide3.xml" Id="Rb01c1180bac44dc8" /><Relationship Type="http://schemas.openxmlformats.org/officeDocument/2006/relationships/slide" Target="/ppt/slides/slide4.xml" Id="Re9d18fbb1ddf4104" /><Relationship Type="http://schemas.openxmlformats.org/officeDocument/2006/relationships/slide" Target="/ppt/slides/slide5.xml" Id="R1d049270f22a422a" /><Relationship Type="http://schemas.openxmlformats.org/officeDocument/2006/relationships/slide" Target="/ppt/slides/slide6.xml" Id="R65e4bcaac9b14b09" /><Relationship Type="http://schemas.openxmlformats.org/officeDocument/2006/relationships/slide" Target="/ppt/slides/slide7.xml" Id="R94aa51b8a4914a5d" /><Relationship Type="http://schemas.openxmlformats.org/officeDocument/2006/relationships/slide" Target="/ppt/slides/slide8.xml" Id="R5778c5f8f9f64c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c6f19d46d54e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23674ef57f4d02" /><Relationship Type="http://schemas.openxmlformats.org/officeDocument/2006/relationships/notesMaster" Target="/ppt/notesMasters/notesMaster1.xml" Id="Rdf8a099cb7674f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f85747d6334f65" /><Relationship Type="http://schemas.openxmlformats.org/officeDocument/2006/relationships/notesMaster" Target="/ppt/notesMasters/notesMaster1.xml" Id="Rab7f3e6eedd441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ca62b26ad1463f" /><Relationship Type="http://schemas.openxmlformats.org/officeDocument/2006/relationships/notesMaster" Target="/ppt/notesMasters/notesMaster1.xml" Id="R8be3d8393cca44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6bd1c7d64447c7" /><Relationship Type="http://schemas.openxmlformats.org/officeDocument/2006/relationships/notesMaster" Target="/ppt/notesMasters/notesMaster1.xml" Id="R803e42af01054d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ba829e86f644ed" /><Relationship Type="http://schemas.openxmlformats.org/officeDocument/2006/relationships/notesMaster" Target="/ppt/notesMasters/notesMaster1.xml" Id="Ref72853370824b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0b010e2b724f53" /><Relationship Type="http://schemas.openxmlformats.org/officeDocument/2006/relationships/notesMaster" Target="/ppt/notesMasters/notesMaster1.xml" Id="R66d95c7953ae49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e2476d98b84baf" /><Relationship Type="http://schemas.openxmlformats.org/officeDocument/2006/relationships/notesMaster" Target="/ppt/notesMasters/notesMaster1.xml" Id="R72489da3459845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dbbb97f1644fbb" /><Relationship Type="http://schemas.openxmlformats.org/officeDocument/2006/relationships/notesMaster" Target="/ppt/notesMasters/notesMaster1.xml" Id="R41fae36aeb9840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fba9a20d74d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cd65b41344c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a5b1d296e146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c8167a46d4a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46e4b1f0c47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dcc2846afc47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FC9178-D734-4FC5-A80F-4530CFE67A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0D1502-15E2-47A9-9A85-6E1DE9B291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C41E9A-4BDC-47F9-992E-2B2F8A84D4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7EFBC8-87BE-4720-919F-3E8F5ACDB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A68EA0-1419-492B-A87A-FA4B335099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0F2234-2974-4FDD-AA59-A9FA9576C8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6CC86D-DBE4-4BDE-BDB7-E58DB03FAB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BC3088-F352-4717-BEB1-0FA1DA7FC2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E9B1BC-D538-4615-BC3C-6BC6934D4B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C58015-FEF9-4BF0-AF10-7F24E43F39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3706bbd41d4ff2" /><Relationship Type="http://schemas.openxmlformats.org/officeDocument/2006/relationships/slideLayout" Target="/ppt/slideLayouts/slideLayout1.xml" Id="R767d92074e684759" /><Relationship Type="http://schemas.openxmlformats.org/officeDocument/2006/relationships/slideLayout" Target="/ppt/slideLayouts/slideLayout2.xml" Id="Re95fde1ddd604808" /><Relationship Type="http://schemas.openxmlformats.org/officeDocument/2006/relationships/slideLayout" Target="/ppt/slideLayouts/slideLayout3.xml" Id="Rce94fb63838247e0" /><Relationship Type="http://schemas.openxmlformats.org/officeDocument/2006/relationships/slideLayout" Target="/ppt/slideLayouts/slideLayout4.xml" Id="Rfb926efd3b2b4bbb" /><Relationship Type="http://schemas.openxmlformats.org/officeDocument/2006/relationships/slideLayout" Target="/ppt/slideLayouts/slideLayout5.xml" Id="R34b9cafead83428b" /><Relationship Type="http://schemas.openxmlformats.org/officeDocument/2006/relationships/slideLayout" Target="/ppt/slideLayouts/slideLayout6.xml" Id="R11647a4235bf44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7d92074e684759"/>
    <p:sldLayoutId xmlns:r="http://schemas.openxmlformats.org/officeDocument/2006/relationships" id="2147483650" r:id="Re95fde1ddd604808"/>
    <p:sldLayoutId xmlns:r="http://schemas.openxmlformats.org/officeDocument/2006/relationships" id="2147483651" r:id="Rce94fb63838247e0"/>
    <p:sldLayoutId xmlns:r="http://schemas.openxmlformats.org/officeDocument/2006/relationships" id="2147483652" r:id="Rfb926efd3b2b4bbb"/>
    <p:sldLayoutId xmlns:r="http://schemas.openxmlformats.org/officeDocument/2006/relationships" id="2147483653" r:id="R34b9cafead83428b"/>
    <p:sldLayoutId xmlns:r="http://schemas.openxmlformats.org/officeDocument/2006/relationships" id="2147483654" r:id="R11647a4235bf44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4cd18fcf4d4c9a" /><Relationship Type="http://schemas.openxmlformats.org/officeDocument/2006/relationships/notesSlide" Target="/ppt/notesSlides/notesSlide1.xml" Id="R4d12d5db456247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084278d6bb48f6" /><Relationship Type="http://schemas.openxmlformats.org/officeDocument/2006/relationships/notesSlide" Target="/ppt/notesSlides/notesSlide2.xml" Id="R2438dcc4f6a643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dd5eb716f49cc" /><Relationship Type="http://schemas.openxmlformats.org/officeDocument/2006/relationships/notesSlide" Target="/ppt/notesSlides/notesSlide3.xml" Id="R48b17aca9b7144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b4b6f296a94dfe" /><Relationship Type="http://schemas.openxmlformats.org/officeDocument/2006/relationships/notesSlide" Target="/ppt/notesSlides/notesSlide4.xml" Id="Rd85f6585209848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7ca61d6268403d" /><Relationship Type="http://schemas.openxmlformats.org/officeDocument/2006/relationships/notesSlide" Target="/ppt/notesSlides/notesSlide5.xml" Id="R21404c27d9f44b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e265a0a3bb4d71" /><Relationship Type="http://schemas.openxmlformats.org/officeDocument/2006/relationships/notesSlide" Target="/ppt/notesSlides/notesSlide6.xml" Id="R5a3e67d457cd4c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1df78ca0046f8" /><Relationship Type="http://schemas.openxmlformats.org/officeDocument/2006/relationships/chart" Target="/ppt/slides/charts/chart1.xml" Id="R866731939ca7422b" /><Relationship Type="http://schemas.openxmlformats.org/officeDocument/2006/relationships/chart" Target="/ppt/slides/charts/chart2.xml" Id="R99dec01f11ef46e9" /><Relationship Type="http://schemas.openxmlformats.org/officeDocument/2006/relationships/notesSlide" Target="/ppt/notesSlides/notesSlide7.xml" Id="R7f176111729d48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7a449e378549b4" /><Relationship Type="http://schemas.openxmlformats.org/officeDocument/2006/relationships/notesSlide" Target="/ppt/notesSlides/notesSlide8.xml" Id="R61e76a1c6915497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GCD scan microseconds</c:v>
          </c:tx>
          <c:spPr>
            <a:solidFill xmlns:a="http://schemas.openxmlformats.org/drawingml/2006/main">
              <a:srgbClr val="F0392B"/>
            </a:solidFill>
          </c:spPr>
          <c:marker>
            <c:symbol val="none"/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</c:numCache>
            </c:num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</c:v>
                </c:pt>
                <c:pt idx="1">
                  <c:v>23</c:v>
                </c:pt>
                <c:pt idx="2">
                  <c:v>99</c:v>
                </c:pt>
                <c:pt idx="3">
                  <c:v>362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Public keys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D2D3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microseconds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Recovery microseconds</c:v>
          </c:tx>
          <c:spPr>
            <a:solidFill xmlns:a="http://schemas.openxmlformats.org/drawingml/2006/main">
              <a:srgbClr val="F0392B"/>
            </a:solidFill>
          </c:spPr>
          <c:invertIfNegative val="0"/>
          <c:cat>
            <c:numRef>
              <c:f>'Chart Data'!$A$2:$A$4</c:f>
              <c:numCache>
                <c:formatCode>General</c:formatCode>
                <c:ptCount val="3"/>
                <c:pt idx="0">
                  <c:v>255</c:v>
                </c:pt>
                <c:pt idx="1">
                  <c:v>512</c:v>
                </c:pt>
                <c:pt idx="2">
                  <c:v>768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14</c:v>
                </c:pt>
              </c:numCache>
            </c:numRef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Modulus bits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D2D3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microseconds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CE8AC9-5656-419C-9863-85815ECE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557C5-76E0-4215-8AE8-2CB2D2AF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EC4CA-42CD-400E-AFB8-AD8B03CB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28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9EE6B-019B-42A3-92F1-AA66993D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28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B0E15-D7C1-49D1-9311-B8B52892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10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04D51-8452-419F-918C-581B9E87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E7426-A7CE-4B8C-9C5B-57ABA732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610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D3622-180D-41D2-8497-DEC14EAD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362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F12DA-9B4E-4AED-A034-5F916633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3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30D0F-CB30-4634-9F85-A76348F8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rPr>
              <a:t>REC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ABC9B-2074-4E5A-9B38-91E5CAB5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SC6104 / WEAK RSA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5D840-D38B-4ABB-AF39-992B0E0E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2BC37-F304-4D53-9E53-4FBD42F6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1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BREAKING WEAK RSA KEYS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CFD9D-8415-4007-A52C-191FC5A1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9C16E-936A-4B41-B352-9131CCF5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rPr>
              <a:t>SC6104 CRYPTOGRAPHY COURSE PROJECT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A749C-8466-454B-B170-6E0F9DBA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704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5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Breaking</a:t>
            </a:r>
          </a:p>
          <a:p xmlns:a="http://schemas.openxmlformats.org/drawingml/2006/main">
            <a:pPr algn="l">
              <a:defRPr sz="465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Weak RSA Keys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B517F-2607-4D46-A6CB-D86FF3BD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Two controlled attacks show why large moduli cannot compensate for faulty key generation.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D88C0-ED4B-47C1-9654-F3F731F0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Shared prime reuse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7B761-7739-48B3-AED5-04202B18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479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rPr>
              <a:t>gcd(N₁, N₂) = 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76EE59-32A0-46B5-A92E-41A97A80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0563BD-568D-4FC7-A10E-42A09178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385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Small private exponent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34A90C-499E-4CD6-91A3-B2ED2B4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338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rPr>
              <a:t>d &lt; N^(1/4) /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69EB7-2221-4C36-B0F7-9DD8BC1F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8-minute presentation with live local demo</a:t>
            </a:r>
          </a:p>
        </p:txBody>
      </p:sp>
    </p:spTree>
    <p:extLst>
      <p:ext uri="{BB962C8B-B14F-4D97-AF65-F5344CB8AC3E}">
        <p14:creationId xmlns:p14="http://schemas.microsoft.com/office/powerpoint/2010/main" val="2547740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83372B-0FFA-4CFE-9EC7-C4DA06BA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080A9-EEC3-4091-8933-7B5C493F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708BD-7A9A-45B5-835F-CD9DA37D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28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9C275-66A5-46AC-A5B0-F72ED845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28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9A657-C157-4C5F-BDE2-3570DF64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10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BC638-15F2-4CC3-8CBA-E70CA9B3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2DAF9-C5FC-4488-9411-900AFD82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610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710BF-7A16-480F-96A0-C78ADF78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362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CC691-88F8-4958-90FD-94A26F7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3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8D320-A8CB-4E06-99F6-5A4666A6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rPr>
              <a:t>REC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FBD0F-2FC8-485A-9EE2-7610DFE2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THREAT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DD00C-0F9C-43DB-AB8C-B4A690DB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BB7E2-EE93-44B8-806D-8CDF05DE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1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BREAKING WEAK RSA KEYS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915AA-BC87-42A9-9CF0-34E5B23B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09F4B-05F3-4210-B65F-F323C02C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Threat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3A71D-4229-45E1-B938-FBAE8178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The attacker receives public keys 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B9CB0-3BDB-4E3E-B59D-02D48ED5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3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FB9B0-1A7D-4C0E-9DA5-4624CCAA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Known to attacker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0E0EDA-6965-4A9E-892A-848A2721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RSA moduli N and public exponent e from a controlled local key set.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0294F6-7BBE-4BBA-ADA6-7BC2AE7F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43797-B567-4526-9E2D-570F1147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Not attempted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C45CF-89FB-4BC1-A004-6CB0BDAD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No generic factorization of a correctly generated 2048-bit RSA modulus.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856B1-5301-46FD-92BD-1202B3E3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49089C-BA35-4085-85D7-85357D7E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064606-7AC0-4A6A-AD2D-D6AA5D37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Recover the private key only when an implementation makes a specific error.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BF292B-3F1C-4D82-B726-FA1FE7D3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383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7"/>
          </a:solidFill>
          <a:ln xmlns:a="http://schemas.openxmlformats.org/drawingml/2006/main" w="9525">
            <a:solidFill>
              <a:srgbClr val="2D2D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884C12-B72C-4DCB-A569-736D06E9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1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PUBLIC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668458-BD7C-4D34-851B-9E5EEC58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pPr>
            <a:r>
              <a:rPr sz="2700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rPr>
              <a:t>(N, e)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5B25EB-C099-477A-B89B-312CEDD8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 i="0">
                <a:solidFill>
                  <a:srgbClr val="F039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039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0392B"/>
                </a:solidFill>
                <a:latin typeface="Arial"/>
                <a:ea typeface="Arial"/>
                <a:cs typeface="Arial"/>
              </a:rPr>
              <a:t>weak parameter</a:t>
            </a:r>
          </a:p>
          <a:p xmlns:a="http://schemas.openxmlformats.org/drawingml/2006/main">
            <a:pPr algn="l">
              <a:defRPr sz="1650" b="1" i="0">
                <a:solidFill>
                  <a:srgbClr val="F039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0392B"/>
                </a:solidFill>
                <a:latin typeface="Arial"/>
                <a:ea typeface="Arial"/>
                <a:cs typeface="Arial"/>
              </a:rPr>
              <a:t>or repeated prime</a:t>
            </a:r>
          </a:p>
        </p:txBody>
      </p:sp>
    </p:spTree>
    <p:extLst>
      <p:ext uri="{BB962C8B-B14F-4D97-AF65-F5344CB8AC3E}">
        <p14:creationId xmlns:p14="http://schemas.microsoft.com/office/powerpoint/2010/main" val="13810055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89A902-1CF3-4A4D-9E87-D6691791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023F3-721D-4A27-816B-8BC80774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B9E4B-9882-4E99-B02D-80298587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28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BB0E3-7D7E-4E24-8641-7EBAC865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28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1469A-45A0-4175-A2F5-F71A8AEE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10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23C36-71FD-4746-AEBD-AB7793C0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334F4-C708-4FBC-B66A-9E457AA0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610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1ECFC-17A6-44F8-B7E3-84EE7370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362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E67F8-A39F-403F-8178-920B72E2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3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FD754-76C1-4703-B929-124DF8DD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rPr>
              <a:t>REC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734B5-8641-43A6-BE64-7044E85B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ATTACK 1 / SHARED PRIME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BD4A6-5EF5-4C7F-A5AB-37549F91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C678C-B52A-4EA3-9800-B339608C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1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BREAKING WEAK RSA KEYS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FD7E0-BCD6-433A-BB7B-FD1B53C3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D07F4-1D68-462D-8F4C-4B9211E6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Shared-prime attack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853FA-0666-446B-A0EA-56BBA986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Faulty randomness can reuse one secret prime across two public moduli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A322C-D0B6-4E29-8AC2-D88BD2E6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7"/>
          </a:solidFill>
          <a:ln xmlns:a="http://schemas.openxmlformats.org/drawingml/2006/main" w="9525">
            <a:solidFill>
              <a:srgbClr val="2D2D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2A4A9-BA8A-4F75-BEE4-DF89F01F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7"/>
          </a:solidFill>
          <a:ln xmlns:a="http://schemas.openxmlformats.org/drawingml/2006/main" w="9525">
            <a:solidFill>
              <a:srgbClr val="2D2D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4D7DA-C31D-43A3-9229-59624B6B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rPr>
              <a:t>N₁ = p × q₁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27E530-F8DD-4443-B807-704450F0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rPr>
              <a:t>N₂ = p × q₂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F5E30C-B68C-4601-B524-9C71F910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33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0392B"/>
                </a:solidFill>
                <a:latin typeface="Courier New"/>
                <a:ea typeface="Courier New"/>
                <a:cs typeface="Courier New"/>
              </a:rPr>
              <a:t>same 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DE406-8967-43E4-BCA8-C5E3B869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33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0392B"/>
                </a:solidFill>
                <a:latin typeface="Courier New"/>
                <a:ea typeface="Courier New"/>
                <a:cs typeface="Courier New"/>
              </a:rPr>
              <a:t>same 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6AB98B-B03A-4750-AE7D-4B8010F1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24375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3450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3450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pPr>
            <a:r>
              <a:rPr sz="3450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rPr>
              <a:t>gcd(N₁, N₂) = 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E747D4-32D4-475D-AB1C-44708E7B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863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Knowing p gives q, φ(N), and then d</a:t>
            </a:r>
          </a:p>
        </p:txBody>
      </p:sp>
    </p:spTree>
    <p:extLst>
      <p:ext uri="{BB962C8B-B14F-4D97-AF65-F5344CB8AC3E}">
        <p14:creationId xmlns:p14="http://schemas.microsoft.com/office/powerpoint/2010/main" val="13718205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8429C2-2866-4275-83EE-B96533B6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958E4-F246-47DA-A700-43677F9C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E7359-0087-4A40-8ABD-BDE989EE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28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CA3DE-09DF-4CFD-B4FE-536DE78C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28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2D54E-97AE-4866-8417-905835E6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10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D7D8F-8EAF-4145-9F42-58946919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26FE0-D5B9-440E-B78E-9D1B0471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610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A049E-67EB-4BC2-8D9D-6D1844EE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362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0544E-90DC-4031-9580-3C60D545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3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4F032-ED71-44E3-8AAE-29713104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rPr>
              <a:t>REC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C6B33-D379-4C74-B1C6-99558044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DEMO / SHARED PRIME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C5EF0-53E7-4BE6-99E2-A419CB64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DE161-C840-4FD5-BEC9-7EC98EE8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1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BREAKING WEAK RSA KEYS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807B4-1DF0-4DF3-AB3D-A4F8CEF2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BB81B-F56A-43DE-B39F-9CFC1371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A8D9F-2FF5-439B-B191-B7ABFA7B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The attack program sees only public parameters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B66DA-DAE9-434D-A39D-D237E502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BBD47E-A818-4C3D-9482-926ED046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764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1. Generate four 2048-bit public keys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347CE-59B0-44CA-95F9-CEB11058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D0CCA1-1FB8-41AA-8594-1B513535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2. Reuse one prime in exactly two keys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33967-608E-4A80-B8EE-7BC0486B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3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C2E969-B35F-4478-99D8-80B2103C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6712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3. Compute gcd for each public-key pair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28DA66-5EDB-49B7-91CD-EBF882BD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A1884-409A-4C2E-BE23-ECD00E97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4. Reconstruct d and decrypt the message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DE0077-36A9-421F-BAF0-C9B160A6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162175"/>
            <a:ext cx="2876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7"/>
          </a:solidFill>
          <a:ln xmlns:a="http://schemas.openxmlformats.org/drawingml/2006/main" w="9525">
            <a:solidFill>
              <a:srgbClr val="2D2D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BF65F2-D981-4513-BC62-286721C0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288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TERMINAL 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81FA60-564D-4741-AAEA-5C939C1D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09875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1EA"/>
                </a:solidFill>
                <a:latin typeface="Courier New"/>
                <a:ea typeface="Courier New"/>
                <a:cs typeface="Courier New"/>
              </a:rPr>
              <a:t>gcd scan found</a:t>
            </a:r>
          </a:p>
          <a:p xmlns:a="http://schemas.openxmlformats.org/drawingml/2006/main">
            <a:pPr algn="l">
              <a:defRPr sz="1350" b="0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1EA"/>
                </a:solidFill>
                <a:latin typeface="Courier New"/>
                <a:ea typeface="Courier New"/>
                <a:cs typeface="Courier New"/>
              </a:rPr>
              <a:t>1 vulnerable pair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1EA"/>
                </a:solidFill>
                <a:latin typeface="Courier New"/>
                <a:ea typeface="Courier New"/>
                <a:cs typeface="Courier New"/>
              </a:rPr>
              <a:t>Recovered plaintext:</a:t>
            </a:r>
          </a:p>
          <a:p xmlns:a="http://schemas.openxmlformats.org/drawingml/2006/main">
            <a:pPr algn="l">
              <a:defRPr sz="1350" b="0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1EA"/>
                </a:solidFill>
                <a:latin typeface="Courier New"/>
                <a:ea typeface="Courier New"/>
                <a:cs typeface="Courier New"/>
              </a:rPr>
              <a:t>RSA keys need</a:t>
            </a:r>
          </a:p>
          <a:p xmlns:a="http://schemas.openxmlformats.org/drawingml/2006/main">
            <a:pPr algn="l">
              <a:defRPr sz="1350" b="0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1EA"/>
                </a:solidFill>
                <a:latin typeface="Courier New"/>
                <a:ea typeface="Courier New"/>
                <a:cs typeface="Courier New"/>
              </a:rPr>
              <a:t>independent primes</a:t>
            </a:r>
          </a:p>
        </p:txBody>
      </p:sp>
    </p:spTree>
    <p:extLst>
      <p:ext uri="{BB962C8B-B14F-4D97-AF65-F5344CB8AC3E}">
        <p14:creationId xmlns:p14="http://schemas.microsoft.com/office/powerpoint/2010/main" val="2733002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80EFD6-86E1-43BD-8506-86EC454E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B467F-D002-43FC-BDEC-286134FC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F3ADC-6ADB-4035-ADB4-FA8909ED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28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1A6C1-8487-4241-85BE-5A65882E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28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A29E0-F40D-465F-8334-571B428F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10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35724-ADCC-4113-94CC-A8EA33F5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EE275-F99B-45EB-8191-E5A7FD24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610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50BD7-91B7-41A7-89BF-2FFEED65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362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C9338-14BE-4C31-9519-3ABBC574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3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82549-2A53-4B1A-BDD2-0F5E91B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rPr>
              <a:t>REC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D1EBB-0AA5-4956-A19C-9CAB4F19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ATTACK 2 / WIENER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FB46E-60DA-4C0E-854B-1DC88D51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E4552-79BC-44FE-8DF6-BF342A6B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1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BREAKING WEAK RSA KEYS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1F553-F57B-489E-9F81-976DF268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F4A5C-C1D1-4606-8D28-3579E607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Wiener's small-d attack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D0EE3-E8C5-4356-9CDF-C930A11F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A private exponent chosen too small creates a continued-fraction shortcut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DBD9F-3774-4E1A-84AC-7D9E59C7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rPr>
              <a:t>e × d − k × φ(N) =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E4E6F-B698-42FD-89BC-D38AFE4F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When d is small, k / d approximates e / 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E0224-F5EA-4BC3-B823-28ADF900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continued fractions produce candidate values for 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38B21D-625F-44DB-A5FF-F80C9863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24100"/>
            <a:ext cx="34290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7"/>
          </a:solidFill>
          <a:ln xmlns:a="http://schemas.openxmlformats.org/drawingml/2006/main" w="9525">
            <a:solidFill>
              <a:srgbClr val="2D2D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EC49E-30EB-4FFB-B0C4-C31B4450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193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CLASSICAL SUFFICIENT</a:t>
            </a:r>
          </a:p>
          <a:p xmlns:a="http://schemas.openxmlformats.org/drawingml/2006/main">
            <a:pPr algn="l">
              <a:defRPr sz="1125" b="1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VULNERABILITY RANGE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392C2D-AA9E-487C-A215-C8A0DB86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909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2250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rPr>
              <a:t>d &lt; N^(1/4) /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247FE6-1937-4125-8145-8C3FC44F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19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We verify candidates by reconstructing p and q</a:t>
            </a:r>
          </a:p>
        </p:txBody>
      </p:sp>
    </p:spTree>
    <p:extLst>
      <p:ext uri="{BB962C8B-B14F-4D97-AF65-F5344CB8AC3E}">
        <p14:creationId xmlns:p14="http://schemas.microsoft.com/office/powerpoint/2010/main" val="16884652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A40CA5-7DC1-43E4-A5AB-A5E4F5D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D27A5-0252-451E-AB3B-D8946A69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8022F-33BD-4AED-8311-8BCDCEDE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28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D63B2-6E62-48F7-8E0A-3BD9BCAD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28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8A227-1760-4405-8A74-A8364353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10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B0B7D-8F35-4A8C-88ED-F8CF17BA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561DF-9420-420E-A60A-F21A37F1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610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053D8-8DFD-4DE6-9607-8E591ABB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362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69D7C-58B2-44D6-BB63-E9608CC1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3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4FE3F-FE6E-40DC-9C1F-2F4241AD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rPr>
              <a:t>REC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D63DD-E6B7-4599-87CB-2B263E0F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DEMO / WIENER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62D78-2A25-4D98-80C4-D4601164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D8602-9165-47C5-A785-C8B65836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1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BREAKING WEAK RSA KEYS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20CB8-9898-49D9-B16E-0851AEE5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94183-5943-4106-A1CC-1EC34D82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Second live attack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1B6F6-D0A2-4936-907B-23610ACA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A 2048-bit modulus still fails when d is intentionally tiny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AA766-E527-433E-962A-82998591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7"/>
          </a:solidFill>
          <a:ln xmlns:a="http://schemas.openxmlformats.org/drawingml/2006/main" w="9525">
            <a:solidFill>
              <a:srgbClr val="2D2D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4928C-BC56-45F0-89C2-30AEFFFA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431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7"/>
          </a:solidFill>
          <a:ln xmlns:a="http://schemas.openxmlformats.org/drawingml/2006/main" w="9525">
            <a:solidFill>
              <a:srgbClr val="2D2D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5E59A-7B43-4BBB-AE4B-23E1B03C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7"/>
          </a:solidFill>
          <a:ln xmlns:a="http://schemas.openxmlformats.org/drawingml/2006/main" w="9525">
            <a:solidFill>
              <a:srgbClr val="2D2D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0C17B1-5F21-4F22-9DAA-9F59B79C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PUBLIC KEY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3351CC-704D-44A8-818F-63FF6139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765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rPr>
              <a:t>N, 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205DCB-4306-4F86-9E2D-1D150CEE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CONVERGENTS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4A692E-CADA-4944-BEDF-C039698A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765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 i="0">
                <a:solidFill>
                  <a:srgbClr val="F4F1EA"/>
                </a:solidFill>
                <a:latin typeface="Courier New"/>
                <a:ea typeface="Courier New"/>
                <a:cs typeface="Courier New"/>
              </a:rPr>
              <a:t>k / 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3603D1-4DD2-4AE6-9657-D6D5F9AE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RECOVERED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DD027E-2ED9-4C7C-AB6C-91025191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765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rPr>
              <a:t>d, p, q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2512B3-A395-4856-A680-2B4B43EE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006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72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The demo verifies the recovered d by decrypting a second message</a:t>
            </a:r>
          </a:p>
        </p:txBody>
      </p:sp>
    </p:spTree>
    <p:extLst>
      <p:ext uri="{BB962C8B-B14F-4D97-AF65-F5344CB8AC3E}">
        <p14:creationId xmlns:p14="http://schemas.microsoft.com/office/powerpoint/2010/main" val="13142193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71634A-A77F-4736-AEF4-5E01BD68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2F7A3-89B5-48CD-915E-39E189AE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AD7FC-0658-4717-8027-D2CF12BB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28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B0223-09BE-458A-91AF-05C86F8D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28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1BE25-F0B3-4215-812C-F71FCA8B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10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363F4-AD30-4138-A7F9-0A8EBB40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02C3C-FDBF-4A46-B3C5-9CF96486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610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2919B-66AA-4BAD-AA45-B0216359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362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EE6EA-B264-4CD6-8E3D-0871C796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3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F8465-B987-4FE5-A6ED-8565D9E8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rPr>
              <a:t>REC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4D431-DC68-4B61-856E-C0938CE0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EXPERIMENTS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7C3EB-0419-40CE-A6C3-48CB663B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54070-E900-4E8B-AD39-1CA45798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1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BREAKING WEAK RSA KEYS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A310F-34EA-41AF-862C-35D90639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BCE49-6402-4ED5-9DF5-FC36ABB6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Measured controlled experiments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89518-FE9F-4747-870E-07E14CD4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Timings regenerate each run on locally generated vulnerable keys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E75C6-C8F3-4B89-96BD-875695D9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Shared-prime scan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0EE6B-9F9D-4DA9-9B0E-806F9B56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Wiener recovery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6D120A30-B752-4761-BB32-2C5A67DC7734}"/>
              </a:ext>
            </a:extLst>
          </p:cNvPr>
          <p:cNvGraphicFramePr/>
          <p:nvPr/>
        </p:nvGraphicFramePr>
        <p:xfrm>
          <a:off xmlns:a="http://schemas.openxmlformats.org/drawingml/2006/main" x="714375" y="2381250"/>
          <a:ext xmlns:a="http://schemas.openxmlformats.org/drawingml/2006/main" cx="4905375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6731939ca7422b"/>
          </a:graphicData>
        </a:graphic>
      </p:graphicFrame>
      <p:graphicFrame>
        <p:nvGraphicFramePr>
          <p:cNvPr id="20" name="Chart">
            <a:extLst xmlns:a="http://schemas.openxmlformats.org/drawingml/2006/main">
              <a:ext uri="{FF2B5EF4-FFF2-40B4-BE49-F238E27FC236}">
                <a16:creationId xmlns:a16="http://schemas.microsoft.com/office/drawing/2014/main" id="{3A8DE455-7337-4873-9A52-C8B142BD5DAB}"/>
              </a:ext>
            </a:extLst>
          </p:cNvPr>
          <p:cNvGraphicFramePr/>
          <p:nvPr/>
        </p:nvGraphicFramePr>
        <p:xfrm>
          <a:off xmlns:a="http://schemas.openxmlformats.org/drawingml/2006/main" x="6429375" y="2381250"/>
          <a:ext xmlns:a="http://schemas.openxmlformats.org/drawingml/2006/main" cx="4905375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dec01f11ef46e9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C37D2-E0AE-4B4B-ABE2-12CAE9C6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 i="0">
                <a:solidFill>
                  <a:srgbClr val="7E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7E7C7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E7C77"/>
                </a:solidFill>
                <a:latin typeface="Arial"/>
                <a:ea typeface="Arial"/>
                <a:cs typeface="Arial"/>
              </a:rPr>
              <a:t>Results are workload-dependent. The security conclusion comes from the successful key recovery, not a universal runtime claim.</a:t>
            </a:r>
          </a:p>
        </p:txBody>
      </p:sp>
    </p:spTree>
    <p:extLst>
      <p:ext uri="{BB962C8B-B14F-4D97-AF65-F5344CB8AC3E}">
        <p14:creationId xmlns:p14="http://schemas.microsoft.com/office/powerpoint/2010/main" val="12118701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0185D7-F501-4B72-BACE-07F9E017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3C63D-2689-4C3A-AD4E-38C59E7E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8B404-7C9C-4E7E-AE2B-6732E7CB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28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BA785-4E08-40CB-97AD-FB435677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28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7287F-86AC-4A86-8482-49B9F76A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10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BA003-2C18-4784-AD21-ED44A085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04182-9784-49A2-9E8A-AC3E465B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610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1F833-0D9F-47F6-BA12-F33314C6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362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7F712-773D-4754-B5B5-B0B173B7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3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D951E-32E9-4D4E-BE13-588D31E6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F0392B"/>
                </a:solidFill>
                <a:latin typeface="Courier New"/>
                <a:ea typeface="Courier New"/>
                <a:cs typeface="Courier New"/>
              </a:rPr>
              <a:t>REC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AFE20-7FC5-421D-B9CC-DD6CC490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AFCFE-0105-4F4D-B46F-6D3B2D4D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D09A0-6B29-4C74-B0D7-FFD0F0F7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1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BREAKING WEAK RSA KEYS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1530D-87B8-438A-9332-80146434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E7C77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6109B-FC3A-485D-AF15-42D98AB6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981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90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Large RSA keys still need correct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A3B29-8A63-49D3-802C-D9902850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3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54C8D-7397-421C-9880-8CC73413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Use reviewed libraries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53D22-BC44-4A03-8207-BC020F40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Avoid custom key-generation code in production systems.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09B8B-764A-44CB-BACB-2A171A16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0980C-73EC-4BD2-AC96-F8DF459B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Use a CSPRNG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AB795-080A-41E8-9768-6D1A4150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Independent entropy prevents repeated primes across keys.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70C17-0C6E-4AEB-AC42-41F4896A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688F3-9F9C-4340-A67B-D2A6F055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Avoid manual d selection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017B32-A9BE-4F91-ADFF-003C6078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B8B5A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8B5AD"/>
                </a:solidFill>
                <a:latin typeface="Arial"/>
                <a:ea typeface="Arial"/>
                <a:cs typeface="Arial"/>
              </a:rPr>
              <a:t>RSA parameters require validated mathematical constraints.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E3C74-0B93-47D6-96FF-C0FB6DB2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 i="0">
                <a:solidFill>
                  <a:srgbClr val="F039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039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0392B"/>
                </a:solidFill>
                <a:latin typeface="Arial"/>
                <a:ea typeface="Arial"/>
                <a:cs typeface="Arial"/>
              </a:rPr>
              <a:t>Key length protects against generic factoring. It cannot repair flawed randomness or unsafe parameters.</a:t>
            </a:r>
          </a:p>
        </p:txBody>
      </p:sp>
    </p:spTree>
    <p:extLst>
      <p:ext uri="{BB962C8B-B14F-4D97-AF65-F5344CB8AC3E}">
        <p14:creationId xmlns:p14="http://schemas.microsoft.com/office/powerpoint/2010/main" val="839418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2026-10-17T06:31:52.8200000Z</dcterms:created>
  <dcterms:modified xsi:type="dcterms:W3CDTF">2026-10-17T06:31:52.8200000Z</dcterms:modified>
</coreProperties>
</file>