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24dbee44494be0" /><Relationship Type="http://schemas.openxmlformats.org/officeDocument/2006/relationships/extended-properties" Target="/docProps/app.xml" Id="Rd26e1ce68af049ac" /><Relationship Type="http://schemas.openxmlformats.org/officeDocument/2006/relationships/officeDocument" Target="/ppt/presentation.xml" Id="R1df2f9be55bc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0cf3c4feb4911"/>
  </p:sldMasterIdLst>
  <p:notesMasterIdLst>
    <p:notesMasterId xmlns:r="http://schemas.openxmlformats.org/officeDocument/2006/relationships" r:id="R0142612c00cd4277"/>
  </p:notesMasterIdLst>
  <p:sldIdLst>
    <p:sldId xmlns:r="http://schemas.openxmlformats.org/officeDocument/2006/relationships" id="256" r:id="Re8166ef1407c47c5"/>
    <p:sldId xmlns:r="http://schemas.openxmlformats.org/officeDocument/2006/relationships" id="257" r:id="Ra3229c7d032d4b30"/>
    <p:sldId xmlns:r="http://schemas.openxmlformats.org/officeDocument/2006/relationships" id="258" r:id="R657fdcd838934ca0"/>
    <p:sldId xmlns:r="http://schemas.openxmlformats.org/officeDocument/2006/relationships" id="259" r:id="R8b3c78aca36a40df"/>
    <p:sldId xmlns:r="http://schemas.openxmlformats.org/officeDocument/2006/relationships" id="260" r:id="Rbc2ad72fa748490e"/>
    <p:sldId xmlns:r="http://schemas.openxmlformats.org/officeDocument/2006/relationships" id="261" r:id="R88837f869ee54291"/>
    <p:sldId xmlns:r="http://schemas.openxmlformats.org/officeDocument/2006/relationships" id="262" r:id="R88066ff1d83d45aa"/>
    <p:sldId xmlns:r="http://schemas.openxmlformats.org/officeDocument/2006/relationships" id="263" r:id="Rb9642f9a5ea84b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04659c8e04e8b" /><Relationship Type="http://schemas.openxmlformats.org/officeDocument/2006/relationships/slideMaster" Target="/ppt/slideMasters/slideMaster1.xml" Id="Rfe70cf3c4feb4911" /><Relationship Type="http://schemas.openxmlformats.org/officeDocument/2006/relationships/notesMaster" Target="/ppt/notesMasters/notesMaster1.xml" Id="R0142612c00cd4277" /><Relationship Type="http://schemas.openxmlformats.org/officeDocument/2006/relationships/presProps" Target="/ppt/presProps.xml" Id="Re6364f77b36748a6" /><Relationship Type="http://schemas.openxmlformats.org/officeDocument/2006/relationships/tableStyles" Target="/ppt/tableStyles.xml" Id="R1afbeb13fb064409" /><Relationship Type="http://schemas.openxmlformats.org/officeDocument/2006/relationships/slide" Target="/ppt/slides/slide1.xml" Id="Re8166ef1407c47c5" /><Relationship Type="http://schemas.openxmlformats.org/officeDocument/2006/relationships/slide" Target="/ppt/slides/slide2.xml" Id="Ra3229c7d032d4b30" /><Relationship Type="http://schemas.openxmlformats.org/officeDocument/2006/relationships/slide" Target="/ppt/slides/slide3.xml" Id="R657fdcd838934ca0" /><Relationship Type="http://schemas.openxmlformats.org/officeDocument/2006/relationships/slide" Target="/ppt/slides/slide4.xml" Id="R8b3c78aca36a40df" /><Relationship Type="http://schemas.openxmlformats.org/officeDocument/2006/relationships/slide" Target="/ppt/slides/slide5.xml" Id="Rbc2ad72fa748490e" /><Relationship Type="http://schemas.openxmlformats.org/officeDocument/2006/relationships/slide" Target="/ppt/slides/slide6.xml" Id="R88837f869ee54291" /><Relationship Type="http://schemas.openxmlformats.org/officeDocument/2006/relationships/slide" Target="/ppt/slides/slide7.xml" Id="R88066ff1d83d45aa" /><Relationship Type="http://schemas.openxmlformats.org/officeDocument/2006/relationships/slide" Target="/ppt/slides/slide8.xml" Id="Rb9642f9a5ea8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c6571a4cbf49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dd434b013b46f8" /><Relationship Type="http://schemas.openxmlformats.org/officeDocument/2006/relationships/notesMaster" Target="/ppt/notesMasters/notesMaster1.xml" Id="Rb2367d54933a46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9c496f8a6e4e24" /><Relationship Type="http://schemas.openxmlformats.org/officeDocument/2006/relationships/notesMaster" Target="/ppt/notesMasters/notesMaster1.xml" Id="Reecdf2dec23645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d3060e14824c57" /><Relationship Type="http://schemas.openxmlformats.org/officeDocument/2006/relationships/notesMaster" Target="/ppt/notesMasters/notesMaster1.xml" Id="R44f95e7c6a35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00e8deb1194af8" /><Relationship Type="http://schemas.openxmlformats.org/officeDocument/2006/relationships/notesMaster" Target="/ppt/notesMasters/notesMaster1.xml" Id="R4dce5bdf90d44f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8ec397a43a4e53" /><Relationship Type="http://schemas.openxmlformats.org/officeDocument/2006/relationships/notesMaster" Target="/ppt/notesMasters/notesMaster1.xml" Id="R9505eb19fbca4f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c990e3a0004b35" /><Relationship Type="http://schemas.openxmlformats.org/officeDocument/2006/relationships/notesMaster" Target="/ppt/notesMasters/notesMaster1.xml" Id="R27b3d7981c7546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77614852e04681" /><Relationship Type="http://schemas.openxmlformats.org/officeDocument/2006/relationships/notesMaster" Target="/ppt/notesMasters/notesMaster1.xml" Id="Rc462d1cc6b08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15d0a8ca7f4a32" /><Relationship Type="http://schemas.openxmlformats.org/officeDocument/2006/relationships/notesMaster" Target="/ppt/notesMasters/notesMaster1.xml" Id="R395afbb80adb46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c66c0f56645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810004b6e43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ae7c9575d46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97508c9be4f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cbcf7ebb046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516f81c33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A4D681-D952-40CC-AAE8-A1DD55BDFD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5C02867-6EEE-4A61-881D-89D62038F7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6793D5-8BFF-4FAC-AA93-512C2230E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7F3571-17F2-4EE7-960E-D94C51B40D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40838D-D5D9-4F6F-AAF3-F0E096A8B5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2C157-97B9-457B-B813-9F77F667FB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36717A-5D14-4F85-B186-F3835AC82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FD1326-D504-464B-8CC0-3A278D401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A3E21B-12A1-41A5-95AD-60662FA6E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622C42-C297-43BE-BBCC-91E34DBB6A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6844a5fea94a0a" /><Relationship Type="http://schemas.openxmlformats.org/officeDocument/2006/relationships/slideLayout" Target="/ppt/slideLayouts/slideLayout1.xml" Id="R6590d2ed3a7245a0" /><Relationship Type="http://schemas.openxmlformats.org/officeDocument/2006/relationships/slideLayout" Target="/ppt/slideLayouts/slideLayout2.xml" Id="R148824b6f3b3454f" /><Relationship Type="http://schemas.openxmlformats.org/officeDocument/2006/relationships/slideLayout" Target="/ppt/slideLayouts/slideLayout3.xml" Id="R0b8044eb1eef4c5e" /><Relationship Type="http://schemas.openxmlformats.org/officeDocument/2006/relationships/slideLayout" Target="/ppt/slideLayouts/slideLayout4.xml" Id="R513a52c05ebc413f" /><Relationship Type="http://schemas.openxmlformats.org/officeDocument/2006/relationships/slideLayout" Target="/ppt/slideLayouts/slideLayout5.xml" Id="Rf10159fdc4f04bf6" /><Relationship Type="http://schemas.openxmlformats.org/officeDocument/2006/relationships/slideLayout" Target="/ppt/slideLayouts/slideLayout6.xml" Id="R3a332ef50ddf43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0d2ed3a7245a0"/>
    <p:sldLayoutId xmlns:r="http://schemas.openxmlformats.org/officeDocument/2006/relationships" id="2147483650" r:id="R148824b6f3b3454f"/>
    <p:sldLayoutId xmlns:r="http://schemas.openxmlformats.org/officeDocument/2006/relationships" id="2147483651" r:id="R0b8044eb1eef4c5e"/>
    <p:sldLayoutId xmlns:r="http://schemas.openxmlformats.org/officeDocument/2006/relationships" id="2147483652" r:id="R513a52c05ebc413f"/>
    <p:sldLayoutId xmlns:r="http://schemas.openxmlformats.org/officeDocument/2006/relationships" id="2147483653" r:id="Rf10159fdc4f04bf6"/>
    <p:sldLayoutId xmlns:r="http://schemas.openxmlformats.org/officeDocument/2006/relationships" id="2147483654" r:id="R3a332ef50ddf43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44940cce3462e" /><Relationship Type="http://schemas.openxmlformats.org/officeDocument/2006/relationships/notesSlide" Target="/ppt/notesSlides/notesSlide1.xml" Id="Rae52a3aa01e8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fd8b77812422a" /><Relationship Type="http://schemas.openxmlformats.org/officeDocument/2006/relationships/notesSlide" Target="/ppt/notesSlides/notesSlide2.xml" Id="Rcf9f10570b8640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3f2edab964ad4" /><Relationship Type="http://schemas.openxmlformats.org/officeDocument/2006/relationships/notesSlide" Target="/ppt/notesSlides/notesSlide3.xml" Id="Re938255fffe041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b9a7d18a2349b8" /><Relationship Type="http://schemas.openxmlformats.org/officeDocument/2006/relationships/notesSlide" Target="/ppt/notesSlides/notesSlide4.xml" Id="R421c4bfe07684b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08d1ed7b44510" /><Relationship Type="http://schemas.openxmlformats.org/officeDocument/2006/relationships/notesSlide" Target="/ppt/notesSlides/notesSlide5.xml" Id="Rc515944335474d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262f0bd604c28" /><Relationship Type="http://schemas.openxmlformats.org/officeDocument/2006/relationships/notesSlide" Target="/ppt/notesSlides/notesSlide6.xml" Id="R40879893badd40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d9b6265864b4f" /><Relationship Type="http://schemas.openxmlformats.org/officeDocument/2006/relationships/chart" Target="/ppt/slides/charts/chart1.xml" Id="R3728b3711eb54611" /><Relationship Type="http://schemas.openxmlformats.org/officeDocument/2006/relationships/chart" Target="/ppt/slides/charts/chart2.xml" Id="R4359dd1b16c54940" /><Relationship Type="http://schemas.openxmlformats.org/officeDocument/2006/relationships/notesSlide" Target="/ppt/notesSlides/notesSlide7.xml" Id="R43f3dffacee243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c4500fe8040be" /><Relationship Type="http://schemas.openxmlformats.org/officeDocument/2006/relationships/notesSlide" Target="/ppt/notesSlides/notesSlide8.xml" Id="R1099c85fb4ef43f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Naive pairs</c:v>
          </c:tx>
          <c:spPr>
            <a:solidFill xmlns:a="http://schemas.openxmlformats.org/drawingml/2006/main">
              <a:srgbClr val="18384A"/>
            </a:solidFill>
          </c:spPr>
          <c:invertIfNegative val="0"/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32</c:v>
              </c:pt>
              <c:pt idx="3">
                <c:v>64</c:v>
              </c:pt>
              <c:pt idx="4">
                <c:v>128</c:v>
              </c:pt>
            </c:numLit>
          </c:cat>
          <c:val>
            <c:numLit>
              <c:formatCode>General</c:formatCode>
              <c:ptCount val="5"/>
              <c:pt idx="0">
                <c:v>2</c:v>
              </c:pt>
              <c:pt idx="1">
                <c:v>6</c:v>
              </c:pt>
              <c:pt idx="2">
                <c:v>23</c:v>
              </c:pt>
              <c:pt idx="3">
                <c:v>96</c:v>
              </c:pt>
              <c:pt idx="4">
                <c:v>356</c:v>
              </c:pt>
            </c:numLit>
          </c:val>
        </c:ser>
        <c:ser>
          <c:idx val="1"/>
          <c:order val="1"/>
          <c:tx>
            <c:v>Indexed by N</c:v>
          </c:tx>
          <c:spPr>
            <a:solidFill xmlns:a="http://schemas.openxmlformats.org/drawingml/2006/main">
              <a:srgbClr val="167D86"/>
            </a:solidFill>
          </c:spPr>
          <c:invertIfNegative val="0"/>
          <c:cat>
            <c:numLit>
              <c:formatCode>General</c:formatCode>
              <c:ptCount val="5"/>
              <c:pt idx="0">
                <c:v>8</c:v>
              </c:pt>
              <c:pt idx="1">
                <c:v>16</c:v>
              </c:pt>
              <c:pt idx="2">
                <c:v>32</c:v>
              </c:pt>
              <c:pt idx="3">
                <c:v>64</c:v>
              </c:pt>
              <c:pt idx="4">
                <c:v>128</c:v>
              </c:pt>
            </c:numLit>
          </c:cat>
          <c:val>
            <c:numLit>
              <c:formatCode>General</c:formatCode>
              <c:ptCount val="5"/>
              <c:pt idx="0">
                <c:v>2</c:v>
              </c:pt>
              <c:pt idx="1">
                <c:v>3</c:v>
              </c:pt>
              <c:pt idx="2">
                <c:v>6</c:v>
              </c:pt>
              <c:pt idx="3">
                <c:v>15</c:v>
              </c:pt>
              <c:pt idx="4">
                <c:v>21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Public keys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6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Recovery microseconds</c:v>
          </c:tx>
          <c:spPr>
            <a:solidFill xmlns:a="http://schemas.openxmlformats.org/drawingml/2006/main">
              <a:srgbClr val="167D86"/>
            </a:solidFill>
          </c:spPr>
          <c:invertIfNegative val="0"/>
          <c:cat>
            <c:numLit>
              <c:formatCode>General</c:formatCode>
              <c:ptCount val="3"/>
              <c:pt idx="0">
                <c:v>255</c:v>
              </c:pt>
              <c:pt idx="1">
                <c:v>511</c:v>
              </c:pt>
              <c:pt idx="2">
                <c:v>768</c:v>
              </c:pt>
            </c:numLit>
          </c:cat>
          <c:val>
            <c:numLit>
              <c:formatCode>General</c:formatCode>
              <c:ptCount val="3"/>
              <c:pt idx="0">
                <c:v>9</c:v>
              </c:pt>
              <c:pt idx="1">
                <c:v>10</c:v>
              </c:pt>
              <c:pt idx="2">
                <c:v>11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Modulus bits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6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microseconds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97042E-B5C3-4361-8B86-723EF3E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1605B-96E3-48DE-84D7-B50F9262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/ WEAK RSA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D76D5-380E-4F01-89ED-F271A4AC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3A7E5-361B-4DED-849B-AFAC2EB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52CF7-4DC9-43F3-BB83-986C461C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22536-F13F-4428-A378-1F54E5E6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917C2-DCCA-4A15-B72A-38122A3D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0A058-4ACD-4F5D-87FE-06AFF80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SC6104 CRYPTOGRAPHY COURSE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A0D4C-59D7-439A-B268-409E05B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Breaking</a:t>
            </a:r>
          </a:p>
          <a:p xmlns:a="http://schemas.openxmlformats.org/drawingml/2006/main">
            <a:pPr algn="l">
              <a:def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46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Weak RSA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BBA6F-8E14-4C45-83A8-8F4623CD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595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Two controlled attacks show why large moduli cannot compensate for faulty key generation.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D42F8-6992-4ECE-B49B-F8D1EC3C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Same N, different 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F3F4B-8949-4B22-A5A2-5F14000A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479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a·e₁ + b·e₂ =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B79C2-4B6F-4BFD-866E-C44F6A1A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4F505-B6D0-44D3-9D20-592E50A7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Small d: Wiener attack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2403A-6118-4FFA-BD12-8DC926BB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325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796F1-6035-4839-9104-98DCCC00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8-minute presentation with live local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EB393-0996-4222-98B6-8C89C856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ZHANG LIXIANG  ·  PAI LINGWEI</a:t>
            </a:r>
          </a:p>
        </p:txBody>
      </p:sp>
    </p:spTree>
    <p:extLst>
      <p:ext uri="{BB962C8B-B14F-4D97-AF65-F5344CB8AC3E}">
        <p14:creationId xmlns:p14="http://schemas.microsoft.com/office/powerpoint/2010/main" val="1949964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58BA6-8563-45E5-918E-26F15DAA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35EBE-B8E0-41AA-AA66-1FAA3917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THREAT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F8812-9154-4952-A2AD-79D7D39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B36FE-BA44-4E7A-BFE3-BB2C5D3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27795-1C10-4986-BE14-AF7FECC9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596A6-D5B4-4F99-966E-22DA65C0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DB6BE-B62A-4B2B-9E1F-3D4BB6B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A499D-8974-4BE1-93DB-245ACC1E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Threat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C4AC3-8ED4-46D6-95E8-2C7817EF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attacker receives public keys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F8640-26AF-41D7-946A-43DDEF0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9B276-6201-41B9-9BD9-32CE6665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Known to attacker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D1473-727D-4C1A-82D9-B7295FAB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Two public keys (N, e1), (N, e2) and two ciphertexts for one message.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04EE6-0CAE-4388-B19A-6969AD5B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6778A-9940-4543-9D98-E47DBD1A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Not attempted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BD56E-5F40-4F28-B558-B386F58B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No generic factorization of a correctly generated 2048-bit RSA modulus.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E5B57-D0EF-4134-8D59-51FBE2D9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B0685-194B-499F-B6E1-378D17FF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7B1B0A-1FDB-4F73-BA9E-B8C989D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Recover the message when an implementation reuses N incorrectly.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95BF2-B917-4478-B270-FA1606A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383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0A611-6798-46ED-A2CF-F9027A33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PUBLIC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20D66-4506-40DB-A519-C612A3DD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(N, e₁), (N, e₂)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DBAB2-7A45-4A08-9761-FBDA460C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same N</a:t>
            </a:r>
          </a:p>
          <a:p xmlns:a="http://schemas.openxmlformats.org/drawingml/2006/main">
            <a:pPr algn="l">
              <a:defRPr sz="165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same message</a:t>
            </a:r>
          </a:p>
        </p:txBody>
      </p:sp>
    </p:spTree>
    <p:extLst>
      <p:ext uri="{BB962C8B-B14F-4D97-AF65-F5344CB8AC3E}">
        <p14:creationId xmlns:p14="http://schemas.microsoft.com/office/powerpoint/2010/main" val="1200902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D333F-6730-443C-AECC-12C8DA14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48840-0588-42E6-9466-5E7F6C70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ATTACK 1 / COMMON MODULUS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CA13D-DF24-435C-AE94-320C5096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4E2AE-A507-485D-A0A4-DBBB0B05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500DA-BB11-4A27-88A2-E525401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58917-5C25-40D3-B897-F227D1CC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C53CB-38BD-4961-821D-BB7A7403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76D5F-FA50-45B5-8C36-1BB0CF2A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Same N, different 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64463-E0CC-47D9-8270-C2F95452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Reusing one RSA modulus for the same message leaks that 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6EB6F-2FE4-4892-877D-9F9AABA8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5DBE3-D796-4EA0-A0AB-4F46756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812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D4743-366E-4673-9592-B19F617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c₁ = m^e₁ mod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5F088-56C5-4C56-B0C7-33329F5A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c₂ = m^e₂ mod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D56B6-0A86-4F13-B11F-06C36DBD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33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same N, same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59987-BF36-4125-ABD5-382BF005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gcd(e₁, e₂) =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DEBC5-4B38-4997-B1C5-515A79B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34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a·e₁ + b·e₂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FAF01-6E10-42EB-AFE8-1B72D245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863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Then c₁ᵃ · c₂ᵇ = m mod N</a:t>
            </a:r>
          </a:p>
        </p:txBody>
      </p:sp>
    </p:spTree>
    <p:extLst>
      <p:ext uri="{BB962C8B-B14F-4D97-AF65-F5344CB8AC3E}">
        <p14:creationId xmlns:p14="http://schemas.microsoft.com/office/powerpoint/2010/main" val="2624313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438D82-764C-495C-80B6-F44040DB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2DF4D-3DC1-45C3-9689-99C298D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DEMO / COMMON MODULUS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B9595-8D62-4256-BA05-B58CC771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990E6-CF5A-4C59-A053-85B9A2DB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58089-7AEA-4F5D-8B93-E3ADF7EB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61B3A-24E2-4424-8652-4B9117A2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B89C6-843A-44B8-A145-BD46629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7E7CD-4D08-4A6D-8DCE-7C29BED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Live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7A09A-541F-44FF-87BF-19DE7761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attack program sees only public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BA604-A04A-4966-8399-31270C3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F4A69-E32F-423B-9566-C660009D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764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1. Generate four 2048-bit public keys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F2DF9-2F88-4E4E-A5F7-98CD20BF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DF638-847C-411E-AC05-8B1D838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2. Reuse one N with coprime e₁ and e₂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A3E3C-1595-48F5-B978-2CC51EDB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68DD2-8FF6-4601-A6C6-9B31AF4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3. Index the collection by 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ABBF0-BA34-4328-BA7D-AE6B50A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F4876-6FA0-4326-ABB3-A24B65DA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4. Use Extended Euclid to recover the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ED18D-103E-436A-95D1-794C6602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62175"/>
            <a:ext cx="2876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E1C8F-C015-4FC9-A013-8E909C55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TERMINAL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1CD90-6630-4B6D-A79C-5B77DEE9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9875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indexed scan found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1 same-N 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Recovered plaintext: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Never reuse an</a:t>
            </a:r>
          </a:p>
          <a:p xmlns:a="http://schemas.openxmlformats.org/drawingml/2006/main">
            <a:pPr algn="l">
              <a:def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RSA modulus</a:t>
            </a:r>
          </a:p>
        </p:txBody>
      </p:sp>
    </p:spTree>
    <p:extLst>
      <p:ext uri="{BB962C8B-B14F-4D97-AF65-F5344CB8AC3E}">
        <p14:creationId xmlns:p14="http://schemas.microsoft.com/office/powerpoint/2010/main" val="133829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7A71F-30FE-45B6-880E-99E524C4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D867B-A64F-4A32-9DF4-59A4F0D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ATTACK 2 / WIENER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4DC38-9F94-44E4-A3E8-4B9AD66E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4C8AA-2DAA-4C60-B5F4-564B9AB9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1AE3B-63AC-400E-BB82-EF1286AF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B6B38-0941-483C-9375-E6C74C7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41350-2118-437B-A8C4-E12A0AF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93632-C2EB-4BEC-8AE4-195FE0FC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Wiener's small-d 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7598F-AE4C-45EF-B209-4248E103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 private exponent chosen too small creates a continued-fraction shortcut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0D41C-CA33-47C4-B383-0576C372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55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e × d − k × φ(N)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2AB19-5EEA-42F0-8424-3E92352D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When d is small, k / d approximates e /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2DF02-DFFF-46A7-BB77-45D97515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continued fractions produce candidate values for 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5894F-6D02-43EC-8A47-082CB74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3429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5B70A-0706-4CF6-A0F4-1ADB236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1937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CLASSICAL SUFFICIENT</a:t>
            </a:r>
          </a:p>
          <a:p xmlns:a="http://schemas.openxmlformats.org/drawingml/2006/main">
            <a:pPr algn="l">
              <a:def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VULNERABILITY 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1F67B-641E-4434-9463-8129AAD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3909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2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 &lt; N^(1/4) /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94DF2-BFF3-45B0-9D97-FCCA0972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9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We verify candidates by reconstructing p and q</a:t>
            </a:r>
          </a:p>
        </p:txBody>
      </p:sp>
    </p:spTree>
    <p:extLst>
      <p:ext uri="{BB962C8B-B14F-4D97-AF65-F5344CB8AC3E}">
        <p14:creationId xmlns:p14="http://schemas.microsoft.com/office/powerpoint/2010/main" val="2023595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1293C-21E3-49BD-BCCE-7377964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A3C6A-9E44-4360-906B-4163FB71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DEMO / WIENER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07621-4DF4-44B3-A31B-35762110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59304-7F61-4588-9DB1-2AB83D9E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EA581-FBE5-4AFE-9517-5E462637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4B6A7-83D3-441C-A76E-1ACB44C2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BE654-998C-4F54-ADDB-7101297A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FE7FD-1594-4C9B-A87F-A01E15D2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Second live 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E377E-063B-466E-A53B-371FAC96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 2048-bit modulus still fails when d is intentionally tiny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DE99B-2559-4488-BEE6-4B0576D6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9E796-B775-430C-96D1-E36372BD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13B37-4493-415E-BC34-6D7A016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66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2003D-E975-49F8-8645-6A65CA9A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PUBLIC 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BF39F-0105-44E2-A9AC-2E63868C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N, 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51386-9143-4AAA-BC41-BB61729B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CONVERGENTS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C3693-1228-42F2-97B5-3EEA961A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8384A"/>
                </a:solidFill>
                <a:latin typeface="Courier New"/>
                <a:ea typeface="Courier New"/>
                <a:cs typeface="Courier New"/>
              </a:rPr>
              <a:t>k / 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43D71-8A34-4522-8A62-9A085354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18A8D"/>
                </a:solidFill>
                <a:latin typeface="Courier New"/>
                <a:ea typeface="Courier New"/>
                <a:cs typeface="Courier New"/>
              </a:rPr>
              <a:t>RECOVERED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625CF-01E1-4461-9686-B793E03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765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240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d, p, 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E0FB25-46EE-4E8A-8C5C-1668BDE8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006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The demo verifies the recovered d by decrypting a second message</a:t>
            </a:r>
          </a:p>
        </p:txBody>
      </p:sp>
    </p:spTree>
    <p:extLst>
      <p:ext uri="{BB962C8B-B14F-4D97-AF65-F5344CB8AC3E}">
        <p14:creationId xmlns:p14="http://schemas.microsoft.com/office/powerpoint/2010/main" val="8746756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2B6AF-1E8F-40C7-86FE-082B0D9E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559A-E7B7-454A-B063-2E6DDF7C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D08C5-481C-4AF9-BFA7-E176707C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1176A-9F7F-4D1F-B533-F26BEAF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858C0-45DD-4BE6-BAE8-10092307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C787B-7021-4F69-B30A-9EBE06B8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9865F-2450-4D07-8529-38322A80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33DB5-62B5-4970-9B12-0D4034BC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Measured controlled experiments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FD014-79B5-4F9C-BF44-3D9B1B8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Timings regenerate each run on locally generated vulnerable keys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30585-8DAC-40C9-9D66-407EAA5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Same-N collection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D42F7-FEEE-4D9C-B14D-2D2FB4D3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4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Wiener recovery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7C229DA3-6494-4248-9D65-EBA6953F6612}"/>
              </a:ext>
            </a:extLst>
          </p:cNvPr>
          <p:cNvGraphicFramePr/>
          <p:nvPr/>
        </p:nvGraphicFramePr>
        <p:xfrm>
          <a:off xmlns:a="http://schemas.openxmlformats.org/drawingml/2006/main" x="714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28b3711eb54611"/>
          </a:graphicData>
        </a:graphic>
      </p:graphicFrame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A038F6EE-9ECD-4BC4-B610-C9867F954BB5}"/>
              </a:ext>
            </a:extLst>
          </p:cNvPr>
          <p:cNvGraphicFramePr/>
          <p:nvPr/>
        </p:nvGraphicFramePr>
        <p:xfrm>
          <a:off xmlns:a="http://schemas.openxmlformats.org/drawingml/2006/main" x="6429375" y="2381250"/>
          <a:ext xmlns:a="http://schemas.openxmlformats.org/drawingml/2006/main" cx="4905375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59dd1b16c54940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CA144-672F-4682-B01C-668529EA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 i="0">
                <a:solidFill>
                  <a:srgbClr val="718A8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18A8D"/>
                </a:solidFill>
                <a:latin typeface="Arial"/>
                <a:ea typeface="Arial"/>
                <a:cs typeface="Arial"/>
              </a:rPr>
              <a:t>Results are workload-dependent. The security conclusion comes from the successful key recovery, not a universal runtime claim.</a:t>
            </a:r>
          </a:p>
        </p:txBody>
      </p:sp>
    </p:spTree>
    <p:extLst>
      <p:ext uri="{BB962C8B-B14F-4D97-AF65-F5344CB8AC3E}">
        <p14:creationId xmlns:p14="http://schemas.microsoft.com/office/powerpoint/2010/main" val="2200794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C8602-545B-43D6-96F3-BCE5A169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968FD-F97E-4700-ABBF-62DA486B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300BA-1C23-4135-8004-CE8E5731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67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825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96EA4-0C87-496A-A20E-A46B1389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19125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167D86"/>
                </a:solidFill>
                <a:latin typeface="Courier New"/>
                <a:ea typeface="Courier New"/>
                <a:cs typeface="Courier New"/>
              </a:rPr>
              <a:t>08:00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9A97D-B14C-444F-9E26-EB762C6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6675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r">
              <a:def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B42E3-C3A1-492D-9907-B4EF9755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43935-E446-4715-9FC1-03B21F09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53175"/>
            <a:ext cx="3810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 algn="l">
              <a:def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46616B"/>
                </a:solidFill>
                <a:latin typeface="Courier New"/>
                <a:ea typeface="Courier New"/>
                <a:cs typeface="Courier New"/>
              </a:rPr>
              <a:t>SC6104 CRYPTOGRAPHY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8BB0B-C3CA-4EBB-B100-66F71093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981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defPPr>
            <a:lvl1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18384A"/>
                </a:solidFill>
                <a:latin typeface="Georgia"/>
                <a:ea typeface="Georgia"/>
                <a:cs typeface="Georgia"/>
              </a:rPr>
              <a:t>Large RSA keys still need correct generation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341E6-CA10-4A16-B006-9B2D2B50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8DDAB-D33B-40C7-9E9E-FFBE4A27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Use reviewed libraries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5117E-5F33-4ADF-B82A-E5961610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Avoid custom key-generation code in production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5179D-E892-4F73-BFFE-5A56F35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9CBE0-8418-466F-8020-0541D9AF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Never reuse 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28E51-78E2-44DE-9138-46EAD896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Each RSA key pair needs its own independently generated modulus.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E20D9-4F32-440D-AF19-E2CE1DF7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FD7E80-0B9B-4332-A6B2-21DB5319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 i="0">
                <a:solidFill>
                  <a:srgbClr val="1838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8384A"/>
                </a:solidFill>
                <a:latin typeface="Arial"/>
                <a:ea typeface="Arial"/>
                <a:cs typeface="Arial"/>
              </a:rPr>
              <a:t>Avoid manual d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35516-38DF-435A-BFDD-A03025F0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 i="0">
                <a:solidFill>
                  <a:srgbClr val="46616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6616B"/>
                </a:solidFill>
                <a:latin typeface="Arial"/>
                <a:ea typeface="Arial"/>
                <a:cs typeface="Arial"/>
              </a:rPr>
              <a:t>RSA parameters require validated mathematical constraints.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88F40-85AE-4ADF-8672-7FF9E7E5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67D8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7D86"/>
                </a:solidFill>
                <a:latin typeface="Arial"/>
                <a:ea typeface="Arial"/>
                <a:cs typeface="Arial"/>
              </a:rPr>
              <a:t>Key length protects against generic factoring. It cannot repair modulus reuse or unsafe parameters.</a:t>
            </a:r>
          </a:p>
        </p:txBody>
      </p:sp>
    </p:spTree>
    <p:extLst>
      <p:ext uri="{BB962C8B-B14F-4D97-AF65-F5344CB8AC3E}">
        <p14:creationId xmlns:p14="http://schemas.microsoft.com/office/powerpoint/2010/main" val="1091373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2026-10-18T18:16:51.5410000Z</dcterms:created>
  <dcterms:modified xsi:type="dcterms:W3CDTF">2026-10-18T18:16:51.5410000Z</dcterms:modified>
</coreProperties>
</file>